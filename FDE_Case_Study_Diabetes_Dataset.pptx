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7"/>
    <p:sldId id="260" r:id="rId6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record represents a qualifying inpatient admission, not a unique person. All encounters include diabetes recorded somewhere, though diabetes is not always the primary diagnosis. Data come from 130 US hospitals, 1999–2008. Readmission labels describe a subsequent recorded admission and do not establish preventability. The source research separately examined HbA1c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 A includes 8,757 encounters with primary diagnosis ICD-9 250.xx; Group B includes 93,009 encounters where diabetes was recorded but another condition was primary. Early readmission labels: 1,137 in A and 10,220 in B. Differences are descriptive, not causal. Rates are encounter-based. This segmentation is an analytical starting point; broader high-use patients may represent more total readmissions.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previous inpatient count is a historical utilisation indicator. Among diabetes-primary encounters, early readmission rates rise from 7.98% with zero prior inpatient visits to 15.19% with one and 27.18% with two or more. The 1,700 encounters are 1,124 distinct patients and account for 8,170 bed-days during the qualifying stays, not subsequent readmission bed-days. This association does not prove preventability or a care-coordination gap. A broader other-primary high-utilisation segment has 12,915 encounters and 2,666 early readmission labels, and deserves consideration in eligibility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three alternatives without assuming the answer must involve AI. Option 1 can be sufficient if the true constraint is an existing discharge process. Option 2 is the preferred testable workflow hypothesis, not a proven winner. The table is preliminary judgement, not a clinical trial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Option 2 as a pilot hypothesis, conditional on finding an actionable gap in existing post-discharge care. Follow the patient journey: clinician-approved enrolment and consent, scheduled check-in, approved rule-based routing, and clinician-owned follow-up. React interfaces connect to FastAPI services; PostgreSQL records enrolment, responses, tasks and audit events. This is not autonomous clinical triage. Existing process improvements may be sufficient; connected devices and validated AI are future options only if they add incremental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financial inputs are hypothetical Australian-dollar assumptions, not measured US hospital savings. Break even: $120,000 / $4,000 = 30 avoided readmissions. At 1,000 annual eligible discharges, that represents a 3 percentage-point absolute reduction. Validate net benefit against actual hospital costing, reimbursement, implementation costs, safety and pilot outcomes. Historical dataset figures are not single-hospital annual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1009-13344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92608"/>
            <a:ext cx="512064" cy="384048"/>
          </a:xfrm>
          <a:prstGeom prst="roundRect">
            <a:avLst/>
          </a:prstGeom>
          <a:solidFill>
            <a:srgbClr val="00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4747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301752"/>
            <a:ext cx="10698480" cy="1828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808B"/>
                </a:solidFill>
                <a:latin typeface="Aptos"/>
              </a:defRPr>
            </a:pPr>
            <a:r>
              <a:t>DATASET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777240"/>
            <a:ext cx="1133856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2F52"/>
                </a:solidFill>
                <a:latin typeface="Aptos"/>
              </a:defRPr>
            </a:pPr>
            <a:r>
              <a:t>Diabetes is not always the primary reason for 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1252728"/>
            <a:ext cx="11338560" cy="320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36E8A"/>
                </a:solidFill>
                <a:latin typeface="Aptos"/>
              </a:defRPr>
            </a:pPr>
            <a:r>
              <a:t>We separated encounters by primary diagnosis before investigating early readmission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1773936"/>
            <a:ext cx="5550408" cy="1389888"/>
          </a:xfrm>
          <a:prstGeom prst="roundRect">
            <a:avLst/>
          </a:prstGeom>
          <a:solidFill>
            <a:srgbClr val="E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512064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2F52"/>
                </a:solidFill>
                <a:latin typeface="Aptos"/>
              </a:defRPr>
            </a:pPr>
            <a:r>
              <a:t>GROUP A  /  DIABETES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5120640" cy="39319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00808B"/>
                </a:solidFill>
                <a:latin typeface="Aptos"/>
              </a:defRPr>
            </a:pPr>
            <a:r>
              <a:t>8,757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34056"/>
            <a:ext cx="5120640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E8A"/>
                </a:solidFill>
                <a:latin typeface="Aptos"/>
              </a:defRPr>
            </a:pPr>
            <a:r>
              <a:t>Diabetes was the primary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73936"/>
            <a:ext cx="5550408" cy="1389888"/>
          </a:xfrm>
          <a:prstGeom prst="roundRect">
            <a:avLst/>
          </a:prstGeom>
          <a:solidFill>
            <a:srgbClr val="EC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938528"/>
            <a:ext cx="5120640" cy="2194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2F52"/>
                </a:solidFill>
                <a:latin typeface="Aptos"/>
              </a:defRPr>
            </a:pPr>
            <a:r>
              <a:t>GROUP B  /  OTHER 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67712"/>
            <a:ext cx="5120640" cy="39319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00808B"/>
                </a:solidFill>
                <a:latin typeface="Aptos"/>
              </a:defRPr>
            </a:pPr>
            <a:r>
              <a:t>93,009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34056"/>
            <a:ext cx="5120640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E8A"/>
                </a:solidFill>
                <a:latin typeface="Aptos"/>
              </a:defRPr>
            </a:pPr>
            <a:r>
              <a:t>Another condition was primary; diabetes was recorded elsewhere.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447288"/>
            <a:ext cx="10058400" cy="320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F2F52"/>
                </a:solidFill>
                <a:latin typeface="Aptos"/>
              </a:defRPr>
            </a:pPr>
            <a:r>
              <a:t>Observed 30-day readmission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3995928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F52"/>
                </a:solidFill>
                <a:latin typeface="Aptos"/>
              </a:defRPr>
            </a:pPr>
            <a:r>
              <a:t>Diabetes primary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014215"/>
            <a:ext cx="7534656" cy="201168"/>
          </a:xfrm>
          <a:prstGeom prst="roundRect">
            <a:avLst/>
          </a:prstGeom>
          <a:solidFill>
            <a:srgbClr val="EC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4014215"/>
            <a:ext cx="6519988" cy="201168"/>
          </a:xfrm>
          <a:prstGeom prst="roundRect">
            <a:avLst/>
          </a:prstGeom>
          <a:solidFill>
            <a:srgbClr val="2E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1904" y="3977640"/>
            <a:ext cx="1005840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E6FBE"/>
                </a:solidFill>
                <a:latin typeface="Aptos"/>
              </a:defRPr>
            </a:pPr>
            <a:r>
              <a:t>12.98%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4736592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F52"/>
                </a:solidFill>
                <a:latin typeface="Aptos"/>
              </a:defRPr>
            </a:pPr>
            <a:r>
              <a:t>Other primary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4754879"/>
            <a:ext cx="7534656" cy="201168"/>
          </a:xfrm>
          <a:prstGeom prst="roundRect">
            <a:avLst/>
          </a:prstGeom>
          <a:solidFill>
            <a:srgbClr val="EC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17520" y="4754879"/>
            <a:ext cx="5520391" cy="201168"/>
          </a:xfrm>
          <a:prstGeom prst="roundRect">
            <a:avLst/>
          </a:prstGeom>
          <a:solidFill>
            <a:srgbClr val="10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1904" y="4718304"/>
            <a:ext cx="1005840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8468"/>
                </a:solidFill>
                <a:latin typeface="Aptos"/>
              </a:defRPr>
            </a:pPr>
            <a:r>
              <a:t>10.99%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" y="5559552"/>
            <a:ext cx="11375136" cy="704088"/>
          </a:xfrm>
          <a:prstGeom prst="roundRect">
            <a:avLst/>
          </a:prstGeom>
          <a:solidFill>
            <a:srgbClr val="EB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5660136"/>
            <a:ext cx="10927080" cy="23774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B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916168"/>
            <a:ext cx="10927080" cy="25603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2F52"/>
                </a:solidFill>
                <a:latin typeface="Aptos"/>
              </a:defRPr>
            </a:pPr>
            <a:r>
              <a:t>The diabetes-primary group has a slightly higher rate. Next: does prior inpatient utilisation reveal a stronger signal?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510528"/>
            <a:ext cx="11384280" cy="10972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6556248"/>
            <a:ext cx="8229600" cy="15544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36E8A"/>
                </a:solidFill>
                <a:latin typeface="Aptos"/>
              </a:defRPr>
            </a:pPr>
            <a:r>
              <a:t>FDE CASE STUDY  /  DIABETES &amp; HOSPITAL READMISSIONS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536E8A"/>
                </a:solidFill>
                <a:latin typeface="Aptos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92608"/>
            <a:ext cx="512064" cy="384048"/>
          </a:xfrm>
          <a:prstGeom prst="roundRect">
            <a:avLst/>
          </a:prstGeom>
          <a:solidFill>
            <a:srgbClr val="00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4747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301752"/>
            <a:ext cx="10698480" cy="1828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808B"/>
                </a:solidFill>
                <a:latin typeface="Aptos"/>
              </a:defRPr>
            </a:pPr>
            <a:r>
              <a:t>HIGH-UTILISATION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777240"/>
            <a:ext cx="1133856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2F52"/>
                </a:solidFill>
                <a:latin typeface="Aptos"/>
              </a:defRPr>
            </a:pPr>
            <a:r>
              <a:t>Prior inpatient visits reveal a much stronger readmission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1252728"/>
            <a:ext cx="11338560" cy="320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36E8A"/>
                </a:solidFill>
                <a:latin typeface="Aptos"/>
              </a:defRPr>
            </a:pPr>
            <a:r>
              <a:t>Among encounters with diabetes as the primary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746504"/>
            <a:ext cx="7680960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2F52"/>
                </a:solidFill>
                <a:latin typeface="Aptos"/>
              </a:defRPr>
            </a:pPr>
            <a:r>
              <a:t>Observed 30-day readmission rate by previous inpatient visits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258568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2F52"/>
                </a:solidFill>
                <a:latin typeface="Aptos"/>
              </a:defRPr>
            </a:pPr>
            <a:r>
              <a:t>0 previous visits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299716"/>
            <a:ext cx="7223760" cy="210312"/>
          </a:xfrm>
          <a:prstGeom prst="roundRect">
            <a:avLst/>
          </a:prstGeom>
          <a:solidFill>
            <a:srgbClr val="EC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2299716"/>
            <a:ext cx="1921520" cy="210312"/>
          </a:xfrm>
          <a:prstGeom prst="roundRect">
            <a:avLst/>
          </a:prstGeom>
          <a:solidFill>
            <a:srgbClr val="9BC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4704" y="2231136"/>
            <a:ext cx="135331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2F52"/>
                </a:solidFill>
                <a:latin typeface="Aptos"/>
              </a:defRPr>
            </a:pPr>
            <a:r>
              <a:t>7.98%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871216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2F52"/>
                </a:solidFill>
                <a:latin typeface="Aptos"/>
              </a:defRPr>
            </a:pPr>
            <a:r>
              <a:t>1 previous visit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912364"/>
            <a:ext cx="7223760" cy="210312"/>
          </a:xfrm>
          <a:prstGeom prst="roundRect">
            <a:avLst/>
          </a:prstGeom>
          <a:solidFill>
            <a:srgbClr val="EC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2912364"/>
            <a:ext cx="3657630" cy="210312"/>
          </a:xfrm>
          <a:prstGeom prst="roundRect">
            <a:avLst/>
          </a:prstGeom>
          <a:solidFill>
            <a:srgbClr val="2E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2843784"/>
            <a:ext cx="135331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2F52"/>
                </a:solidFill>
                <a:latin typeface="Aptos"/>
              </a:defRPr>
            </a:pPr>
            <a:r>
              <a:t>15.19%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3483864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2F52"/>
                </a:solidFill>
                <a:latin typeface="Aptos"/>
              </a:defRPr>
            </a:pPr>
            <a:r>
              <a:t>2+ previous visits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525012"/>
            <a:ext cx="7223760" cy="210312"/>
          </a:xfrm>
          <a:prstGeom prst="roundRect">
            <a:avLst/>
          </a:prstGeom>
          <a:solidFill>
            <a:srgbClr val="EC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88920" y="3525012"/>
            <a:ext cx="6544726" cy="210312"/>
          </a:xfrm>
          <a:prstGeom prst="roundRect">
            <a:avLst/>
          </a:prstGeom>
          <a:solidFill>
            <a:srgbClr val="00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04704" y="3456432"/>
            <a:ext cx="1353312" cy="29260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808B"/>
                </a:solidFill>
                <a:latin typeface="Aptos"/>
              </a:defRPr>
            </a:pPr>
            <a:r>
              <a:t>27.18%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224528"/>
            <a:ext cx="7772400" cy="2743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B"/>
                </a:solidFill>
                <a:latin typeface="Aptos"/>
              </a:defRPr>
            </a:pPr>
            <a:r>
              <a:t>HIGH-UTILISATION SEGMENT  /  DIABETES PRIMARY + 2+ PRIOR INPATIENT VISITS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" y="4617720"/>
            <a:ext cx="2743200" cy="859536"/>
          </a:xfrm>
          <a:prstGeom prst="roundRect">
            <a:avLst/>
          </a:prstGeom>
          <a:solidFill>
            <a:srgbClr val="EB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718304"/>
            <a:ext cx="249631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0808B"/>
                </a:solidFill>
                <a:latin typeface="Aptos"/>
              </a:defRPr>
            </a:pPr>
            <a:r>
              <a:t>1,700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248716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2F52"/>
                </a:solidFill>
                <a:latin typeface="Aptos"/>
              </a:defRPr>
            </a:pPr>
            <a:r>
              <a:t>qualifying encounters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8" y="4617720"/>
            <a:ext cx="2743200" cy="859536"/>
          </a:xfrm>
          <a:prstGeom prst="roundRect">
            <a:avLst/>
          </a:prstGeom>
          <a:solidFill>
            <a:srgbClr val="EB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4718304"/>
            <a:ext cx="249631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0808B"/>
                </a:solidFill>
                <a:latin typeface="Aptos"/>
              </a:defRPr>
            </a:pPr>
            <a:r>
              <a:t>1,124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5074920"/>
            <a:ext cx="248716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2F52"/>
                </a:solidFill>
                <a:latin typeface="Aptos"/>
              </a:defRPr>
            </a:pPr>
            <a:r>
              <a:t>distinct patients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617720"/>
            <a:ext cx="2743200" cy="859536"/>
          </a:xfrm>
          <a:prstGeom prst="roundRect">
            <a:avLst/>
          </a:prstGeom>
          <a:solidFill>
            <a:srgbClr val="EB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718304"/>
            <a:ext cx="249631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0808B"/>
                </a:solidFill>
                <a:latin typeface="Aptos"/>
              </a:defRPr>
            </a:pPr>
            <a:r>
              <a:t>462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5074920"/>
            <a:ext cx="248716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2F52"/>
                </a:solidFill>
                <a:latin typeface="Aptos"/>
              </a:defRPr>
            </a:pPr>
            <a:r>
              <a:t>early readmission labels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617720"/>
            <a:ext cx="2743200" cy="859536"/>
          </a:xfrm>
          <a:prstGeom prst="roundRect">
            <a:avLst/>
          </a:prstGeom>
          <a:solidFill>
            <a:srgbClr val="EB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718304"/>
            <a:ext cx="2496312" cy="30175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0808B"/>
                </a:solidFill>
                <a:latin typeface="Aptos"/>
              </a:defRPr>
            </a:pPr>
            <a:r>
              <a:t>8,170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5074920"/>
            <a:ext cx="248716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0F2F52"/>
                </a:solidFill>
                <a:latin typeface="Aptos"/>
              </a:defRPr>
            </a:pPr>
            <a:r>
              <a:t>bed-days in qualifying encounters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" y="5669280"/>
            <a:ext cx="11375136" cy="603504"/>
          </a:xfrm>
          <a:prstGeom prst="roundRect">
            <a:avLst/>
          </a:prstGeom>
          <a:solidFill>
            <a:srgbClr val="E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5760720"/>
            <a:ext cx="10881360" cy="2103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B"/>
                </a:solidFill>
                <a:latin typeface="Aptos"/>
              </a:defRPr>
            </a:pPr>
            <a:r>
              <a:t>BUSINESS OPPORTUNITY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989320"/>
            <a:ext cx="10927080" cy="2103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0F2F52"/>
                </a:solidFill>
                <a:latin typeface="Aptos"/>
              </a:defRPr>
            </a:pPr>
            <a:r>
              <a:t>Investigate whether clinically appropriate post-discharge support can improve continuity and reduce avoidable utilisation.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6510528"/>
            <a:ext cx="11384280" cy="10972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" y="6556248"/>
            <a:ext cx="8229600" cy="15544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36E8A"/>
                </a:solidFill>
                <a:latin typeface="Aptos"/>
              </a:defRPr>
            </a:pPr>
            <a:r>
              <a:t>FDE CASE STUDY  /  DIABETES &amp; HOSPITAL READMISSIONS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56248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536E8A"/>
                </a:solidFill>
                <a:latin typeface="Aptos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93192"/>
            <a:ext cx="50292" cy="310896"/>
          </a:xfrm>
          <a:prstGeom prst="rect">
            <a:avLst/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65760"/>
            <a:ext cx="100584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08995"/>
                </a:solidFill>
                <a:latin typeface="Aptos"/>
              </a:defRPr>
            </a:pPr>
            <a:r>
              <a:t>04  /  SOLUTION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795528"/>
            <a:ext cx="1120140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4263A"/>
                </a:solidFill>
                <a:latin typeface="Aptos"/>
              </a:defRPr>
            </a:pPr>
            <a:r>
              <a:t>Three ways to improve post-discharge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80160"/>
            <a:ext cx="110642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150" b="0">
                <a:solidFill>
                  <a:srgbClr val="627484"/>
                </a:solidFill>
                <a:latin typeface="Aptos"/>
              </a:defRPr>
            </a:pPr>
            <a:r>
              <a:t>Compare practical alternatives before selecting technology — preliminary engineering judgement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DC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914400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27484"/>
                </a:solidFill>
                <a:latin typeface="Aptos"/>
              </a:defRPr>
            </a:pPr>
            <a:r>
              <a:t>FDE CASE STUDY  /  DIABETES &amp; READMISSIONS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92824"/>
            <a:ext cx="6858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t>04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1728216"/>
            <a:ext cx="3648456" cy="184708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de_option_phot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56231"/>
            <a:ext cx="923544" cy="740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5064" y="1837943"/>
            <a:ext cx="292608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057400"/>
            <a:ext cx="2340864" cy="5394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Improve existing discharge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697480"/>
            <a:ext cx="3355848" cy="4846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Standardise discharge checklists, schedule follow-up appointments, improve medication reconciliation and clarify staff responsibilities.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218688"/>
            <a:ext cx="3364992" cy="28346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27484"/>
                </a:solidFill>
                <a:latin typeface="Aptos"/>
              </a:defRPr>
            </a:pPr>
            <a:r>
              <a:t>Low technology complexity. Fastest to test. May be sufficient if problems are process-related.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728216"/>
            <a:ext cx="3648456" cy="1847088"/>
          </a:xfrm>
          <a:prstGeom prst="roundRect">
            <a:avLst>
              <a:gd name="adj" fmla="val 12000"/>
            </a:avLst>
          </a:prstGeom>
          <a:solidFill>
            <a:srgbClr val="E7F6F6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de_option_photo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856231"/>
            <a:ext cx="923544" cy="7406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31536" y="1837943"/>
            <a:ext cx="292608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057400"/>
            <a:ext cx="2340864" cy="5394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Digital follow-up and workflow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2697480"/>
            <a:ext cx="3355848" cy="4846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Enrol eligible patients, schedule check-ins, collect responses, flag clinically approved concerns and create tasks for care coordinators.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3218688"/>
            <a:ext cx="3364992" cy="28346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27484"/>
                </a:solidFill>
                <a:latin typeface="Aptos"/>
              </a:defRPr>
            </a:pPr>
            <a:r>
              <a:t>Moderate complexity. Supports measurable workflow improvement without predictive AI.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728216"/>
            <a:ext cx="3648456" cy="184708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de_option_photo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856231"/>
            <a:ext cx="923544" cy="7406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08008" y="1837943"/>
            <a:ext cx="292608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057400"/>
            <a:ext cx="2340864" cy="5394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Connected-care platform with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697480"/>
            <a:ext cx="3355848" cy="4846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Integrate relevant medical devices, analyse longitudinal patient information, use validated risk models and support clinician-led escalation.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3218688"/>
            <a:ext cx="3364992" cy="28346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27484"/>
                </a:solidFill>
                <a:latin typeface="Aptos"/>
              </a:defRPr>
            </a:pPr>
            <a:r>
              <a:t>Highest complexity. Requires device integration, clinical validation, governance and model monitoring.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3721608"/>
            <a:ext cx="64008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995"/>
                </a:solidFill>
                <a:latin typeface="Aptos"/>
              </a:defRPr>
            </a:pPr>
            <a:r>
              <a:t>FEASIBILITY ASSESSMENT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14215"/>
            <a:ext cx="11183112" cy="310896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" y="4087368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Evaluation criterion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8183" y="4087368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Option 1: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087368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Option 2: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087368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Option 3: AI + IoT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34256"/>
            <a:ext cx="11183112" cy="235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334256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59" y="4384548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Implementation 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8183" y="4384548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4384548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384548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569256"/>
            <a:ext cx="11183112" cy="2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569256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59" y="4619548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Upfront investment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8183" y="4619548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4619548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619548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04257"/>
            <a:ext cx="11183112" cy="235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4804257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59" y="4854549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Data requirements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8183" y="4854549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4854549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4854549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039258"/>
            <a:ext cx="11183112" cy="2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5039258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59" y="5089550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Clinical governance burden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8183" y="5089550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Standard 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4224" y="5089550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Workflow + alert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5089550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Clinical + model governance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274259"/>
            <a:ext cx="11183112" cy="235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63640" y="5274259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59" y="5324551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Potential to scale follow-up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5324551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Staff-dependent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5324551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High, if effective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324551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High, integration-dependent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509260"/>
            <a:ext cx="11183112" cy="2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63640" y="5509260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59" y="5559552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Speed to pilot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58183" y="5559552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Fast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4224" y="5559552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5559552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Slow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744260"/>
            <a:ext cx="11183112" cy="235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5744260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59" y="5794552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Demonstrated effectiveness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58183" y="5794552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4224" y="5794552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5794552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979261"/>
            <a:ext cx="11183112" cy="2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63640" y="5979261"/>
            <a:ext cx="2734056" cy="235000"/>
          </a:xfrm>
          <a:prstGeom prst="rect">
            <a:avLst/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59" y="6029553"/>
            <a:ext cx="301752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14263A"/>
                </a:solidFill>
                <a:latin typeface="Aptos"/>
              </a:defRPr>
            </a:pPr>
            <a:r>
              <a:t>Suitability for first MVP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58183" y="6029553"/>
            <a:ext cx="2468879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4224" y="6029553"/>
            <a:ext cx="2569464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1">
                <a:solidFill>
                  <a:srgbClr val="008995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98280" y="6029553"/>
            <a:ext cx="2496312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925" b="0">
                <a:solidFill>
                  <a:srgbClr val="2B3846"/>
                </a:solidFill>
                <a:latin typeface="Aptos"/>
              </a:defRPr>
            </a:pPr>
            <a:r>
              <a:t>Premature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291072"/>
            <a:ext cx="1088136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860" b="0">
                <a:solidFill>
                  <a:srgbClr val="627484"/>
                </a:solidFill>
                <a:latin typeface="Aptos"/>
              </a:defRPr>
            </a:pPr>
            <a:r>
              <a:t>Assessment is qualitative; none of the three approaches has demonstrated effectiveness in this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84048"/>
            <a:ext cx="50292" cy="329184"/>
          </a:xfrm>
          <a:prstGeom prst="roundRect">
            <a:avLst>
              <a:gd name="adj" fmla="val 11000"/>
            </a:avLst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08995"/>
                </a:solidFill>
                <a:latin typeface="Aptos"/>
              </a:defRPr>
            </a:pPr>
            <a:r>
              <a:t>05  /  RECOMMENDED SOLUTION +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4263A"/>
                </a:solidFill>
                <a:latin typeface="Aptos"/>
              </a:defRPr>
            </a:pPr>
            <a:r>
              <a:t>From discharge to action: a technology-enabled care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98448"/>
            <a:ext cx="10972800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150" b="0">
                <a:solidFill>
                  <a:srgbClr val="627484"/>
                </a:solidFill>
                <a:latin typeface="Aptos"/>
              </a:defRPr>
            </a:pPr>
            <a:r>
              <a:t>Option 2 — targeted digital follow-up, with clinician-owned escalation and measurable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19072"/>
            <a:ext cx="11128248" cy="438912"/>
          </a:xfrm>
          <a:prstGeom prst="roundRect">
            <a:avLst>
              <a:gd name="adj" fmla="val 11000"/>
            </a:avLst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56231"/>
            <a:ext cx="1554480" cy="1554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PREFERRED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824228"/>
            <a:ext cx="7955279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4263A"/>
                </a:solidFill>
                <a:latin typeface="Aptos"/>
              </a:defRPr>
            </a:pPr>
            <a:r>
              <a:t>Digital check-ins + approved rules + human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432304"/>
            <a:ext cx="2670048" cy="1572768"/>
          </a:xfrm>
          <a:prstGeom prst="roundRect">
            <a:avLst>
              <a:gd name="adj" fmla="val 11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569464"/>
            <a:ext cx="411480" cy="310896"/>
          </a:xfrm>
          <a:prstGeom prst="roundRect">
            <a:avLst>
              <a:gd name="adj" fmla="val 11000"/>
            </a:avLst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24328"/>
            <a:ext cx="283464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962656"/>
            <a:ext cx="2368296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Discharge &amp; enrol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291840"/>
            <a:ext cx="2331720" cy="4480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10" b="0">
                <a:solidFill>
                  <a:srgbClr val="2B3846"/>
                </a:solidFill>
                <a:latin typeface="Aptos"/>
              </a:defRPr>
            </a:pPr>
            <a:r>
              <a:t>Clinician confirms eligibility; patient consents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794760"/>
            <a:ext cx="2331720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Care coordinator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3063240"/>
            <a:ext cx="210312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89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2424" y="2432304"/>
            <a:ext cx="2670048" cy="1572768"/>
          </a:xfrm>
          <a:prstGeom prst="roundRect">
            <a:avLst>
              <a:gd name="adj" fmla="val 11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2569464"/>
            <a:ext cx="411480" cy="310896"/>
          </a:xfrm>
          <a:prstGeom prst="roundRect">
            <a:avLst>
              <a:gd name="adj" fmla="val 11000"/>
            </a:avLst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2624328"/>
            <a:ext cx="283464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62656"/>
            <a:ext cx="2368296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Scheduled check-in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291840"/>
            <a:ext cx="2331720" cy="4480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10" b="0">
                <a:solidFill>
                  <a:srgbClr val="2B3846"/>
                </a:solidFill>
                <a:latin typeface="Aptos"/>
              </a:defRPr>
            </a:pPr>
            <a:r>
              <a:t>Patient receives and answers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794760"/>
            <a:ext cx="2331720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Patient web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3063240"/>
            <a:ext cx="210312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89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2432304"/>
            <a:ext cx="2670048" cy="1572768"/>
          </a:xfrm>
          <a:prstGeom prst="roundRect">
            <a:avLst>
              <a:gd name="adj" fmla="val 11000"/>
            </a:avLst>
          </a:prstGeom>
          <a:solidFill>
            <a:srgbClr val="E7F6F6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1656" y="2569464"/>
            <a:ext cx="411480" cy="310896"/>
          </a:xfrm>
          <a:prstGeom prst="roundRect">
            <a:avLst>
              <a:gd name="adj" fmla="val 11000"/>
            </a:avLst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2624328"/>
            <a:ext cx="283464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62656"/>
            <a:ext cx="2368296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Rules &amp;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331720" cy="4480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10" b="0">
                <a:solidFill>
                  <a:srgbClr val="2B3846"/>
                </a:solidFill>
                <a:latin typeface="Aptos"/>
              </a:defRPr>
            </a:pPr>
            <a:r>
              <a:t>Approved logic flags concerns and creates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331720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FastAPI +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063240"/>
            <a:ext cx="210312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89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432304"/>
            <a:ext cx="2670048" cy="1572768"/>
          </a:xfrm>
          <a:prstGeom prst="roundRect">
            <a:avLst>
              <a:gd name="adj" fmla="val 11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44584" y="2569464"/>
            <a:ext cx="411480" cy="310896"/>
          </a:xfrm>
          <a:prstGeom prst="roundRect">
            <a:avLst>
              <a:gd name="adj" fmla="val 11000"/>
            </a:avLst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2624328"/>
            <a:ext cx="283464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962656"/>
            <a:ext cx="2368296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Clinical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291840"/>
            <a:ext cx="2331720" cy="4480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10" b="0">
                <a:solidFill>
                  <a:srgbClr val="2B3846"/>
                </a:solidFill>
                <a:latin typeface="Aptos"/>
              </a:defRPr>
            </a:pPr>
            <a:r>
              <a:t>Care team reviews, acts and records 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794760"/>
            <a:ext cx="2331720" cy="17373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Care-team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4279392"/>
            <a:ext cx="6400800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995"/>
                </a:solidFill>
                <a:latin typeface="Aptos"/>
              </a:defRPr>
            </a:pPr>
            <a:r>
              <a:t>TECHNOLOGY &amp; DATA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81144"/>
            <a:ext cx="3557016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709160"/>
            <a:ext cx="3282696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4263A"/>
                </a:solidFill>
                <a:latin typeface="Aptos"/>
              </a:defRPr>
            </a:pPr>
            <a:r>
              <a:t>Patient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983480"/>
            <a:ext cx="328269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40" b="0">
                <a:solidFill>
                  <a:srgbClr val="627484"/>
                </a:solidFill>
                <a:latin typeface="Aptos"/>
              </a:defRPr>
            </a:pPr>
            <a:r>
              <a:t>Responsive check-in; accessible alternatives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5968" y="4581144"/>
            <a:ext cx="3557016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709160"/>
            <a:ext cx="3282696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4263A"/>
                </a:solidFill>
                <a:latin typeface="Aptos"/>
              </a:defRPr>
            </a:pPr>
            <a:r>
              <a:t>API + automation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4983480"/>
            <a:ext cx="328269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40" b="0">
                <a:solidFill>
                  <a:srgbClr val="627484"/>
                </a:solidFill>
                <a:latin typeface="Aptos"/>
              </a:defRPr>
            </a:pPr>
            <a:r>
              <a:t>FastAPI; outreach; rules; task creation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83296" y="4581144"/>
            <a:ext cx="3557016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709160"/>
            <a:ext cx="3282696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4263A"/>
                </a:solidFill>
                <a:latin typeface="Aptos"/>
              </a:defRPr>
            </a:pPr>
            <a:r>
              <a:t>Clinical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83480"/>
            <a:ext cx="328269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40" b="0">
                <a:solidFill>
                  <a:srgbClr val="627484"/>
                </a:solidFill>
                <a:latin typeface="Aptos"/>
              </a:defRPr>
            </a:pPr>
            <a:r>
              <a:t>React; review, assignment, resolution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477256"/>
            <a:ext cx="11082528" cy="356616"/>
          </a:xfrm>
          <a:prstGeom prst="roundRect">
            <a:avLst>
              <a:gd name="adj" fmla="val 11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5577840"/>
            <a:ext cx="2249424" cy="1554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POSTGRESQL DATA + 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9232" y="5559552"/>
            <a:ext cx="804672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Enrolment • consent • responses • tasks • audit events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925312"/>
            <a:ext cx="11082528" cy="374904"/>
          </a:xfrm>
          <a:prstGeom prst="roundRect">
            <a:avLst>
              <a:gd name="adj" fmla="val 11000"/>
            </a:avLst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6035040"/>
            <a:ext cx="1572768" cy="1554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008995"/>
                </a:solidFill>
                <a:latin typeface="Aptos"/>
              </a:defRPr>
            </a:pPr>
            <a:r>
              <a:t>SAFETY BY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6016752"/>
            <a:ext cx="896112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14263A"/>
                </a:solidFill>
                <a:latin typeface="Aptos"/>
              </a:defRPr>
            </a:pPr>
            <a:r>
              <a:t>Clinical protocols • human oversight • access controls • escalation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93192"/>
            <a:ext cx="50292" cy="310896"/>
          </a:xfrm>
          <a:prstGeom prst="rect">
            <a:avLst/>
          </a:prstGeom>
          <a:solidFill>
            <a:srgbClr val="008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65760"/>
            <a:ext cx="100584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t>06  /  VALUE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795528"/>
            <a:ext cx="1120140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4263A"/>
                </a:solidFill>
                <a:latin typeface="Aptos"/>
              </a:defRPr>
            </a:pPr>
            <a:r>
              <a:t>Prove patient benefit and financial value before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80160"/>
            <a:ext cx="110642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150" b="0">
                <a:solidFill>
                  <a:srgbClr val="627484"/>
                </a:solidFill>
                <a:latin typeface="Aptos"/>
              </a:defRPr>
            </a:pPr>
            <a:r>
              <a:t>Illustrative break-even scenario; historical multi-hospital data cannot establish actual savings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0972"/>
          </a:xfrm>
          <a:prstGeom prst="rect">
            <a:avLst/>
          </a:prstGeom>
          <a:solidFill>
            <a:srgbClr val="DC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9144000" cy="1737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27484"/>
                </a:solidFill>
                <a:latin typeface="Aptos"/>
              </a:defRPr>
            </a:pPr>
            <a:r>
              <a:t>FDE CASE STUDY  /  DIABETES &amp; READMISSIONS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92824"/>
            <a:ext cx="6858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1792224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65960"/>
            <a:ext cx="33375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8995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41448"/>
            <a:ext cx="3273552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27484"/>
                </a:solidFill>
                <a:latin typeface="Aptos"/>
              </a:defRPr>
            </a:pPr>
            <a:r>
              <a:t>Eligible annual discharges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92224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65960"/>
            <a:ext cx="33375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8995"/>
                </a:solidFill>
                <a:latin typeface="Aptos"/>
              </a:defRPr>
            </a:pPr>
            <a:r>
              <a:t>AUD $4,000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41448"/>
            <a:ext cx="3273552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27484"/>
                </a:solidFill>
                <a:latin typeface="Aptos"/>
              </a:defRPr>
            </a:pPr>
            <a:r>
              <a:t>Assumed net value / avoided readmission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92224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965960"/>
            <a:ext cx="33375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8995"/>
                </a:solidFill>
                <a:latin typeface="Aptos"/>
              </a:defRPr>
            </a:pPr>
            <a:r>
              <a:t>AUD $120,000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441448"/>
            <a:ext cx="3273552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27484"/>
                </a:solidFill>
                <a:latin typeface="Aptos"/>
              </a:defRPr>
            </a:pPr>
            <a:r>
              <a:t>Assumed annual programme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" y="3017520"/>
            <a:ext cx="11100816" cy="941832"/>
          </a:xfrm>
          <a:prstGeom prst="roundRect">
            <a:avLst>
              <a:gd name="adj" fmla="val 12000"/>
            </a:avLst>
          </a:prstGeom>
          <a:solidFill>
            <a:srgbClr val="E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218688"/>
            <a:ext cx="2743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08995"/>
                </a:solidFill>
                <a:latin typeface="Aptos"/>
              </a:defRPr>
            </a:pPr>
            <a:r>
              <a:t>BREAK-EVEN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63824"/>
            <a:ext cx="5870448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4263A"/>
                </a:solidFill>
                <a:latin typeface="Aptos"/>
              </a:defRPr>
            </a:pPr>
            <a:r>
              <a:t>30 avoided readmissions /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291840"/>
            <a:ext cx="2871216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10" b="0">
                <a:solidFill>
                  <a:srgbClr val="2B3846"/>
                </a:solidFill>
                <a:latin typeface="Aptos"/>
              </a:defRPr>
            </a:pPr>
            <a:r>
              <a:t>= 3 percentage-point absolute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270248"/>
            <a:ext cx="54864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995"/>
                </a:solidFill>
                <a:latin typeface="Aptos"/>
              </a:defRPr>
            </a:pPr>
            <a:r>
              <a:t>VALIDATION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" y="4654296"/>
            <a:ext cx="362102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800600"/>
            <a:ext cx="3255264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1 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102352"/>
            <a:ext cx="3264408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Review causes, preventability, existing workflows and real costs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4654296"/>
            <a:ext cx="362102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4800600"/>
            <a:ext cx="3255264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2 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5102352"/>
            <a:ext cx="3264408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Test with clinical governance and an appropriate comparator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2" y="4654296"/>
            <a:ext cx="362102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3255264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4263A"/>
                </a:solidFill>
                <a:latin typeface="Aptos"/>
              </a:defRPr>
            </a:pPr>
            <a:r>
              <a:t>3  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02352"/>
            <a:ext cx="3264408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2B3846"/>
                </a:solidFill>
                <a:latin typeface="Aptos"/>
              </a:defRPr>
            </a:pPr>
            <a:r>
              <a:t>Track safety, follow-up, readmissions, workload and net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" y="5824728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934456"/>
            <a:ext cx="10780776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4263A"/>
                </a:solidFill>
                <a:latin typeface="Aptos"/>
              </a:defRPr>
            </a:pPr>
            <a:r>
              <a:t>DECISION: Scale only if the intervention is clinically safe, operationally feasible and financially worthwhile.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Readmission Signals to Better Care Coordination</dc:title>
  <dc:subject>Data-driven hospital readmission case study</dc:subject>
  <dc:creator>FDE Case Study</dc:creator>
  <cp:lastModifiedBy>FDE Case Study</cp:lastModifiedBy>
  <cp:revision>1</cp:revision>
  <dcterms:created xsi:type="dcterms:W3CDTF">2026-10-09T12:23:53Z</dcterms:created>
  <dcterms:modified xsi:type="dcterms:W3CDTF">2026-10-09T12:23:53Z</dcterms:modified>
</cp:coreProperties>
</file>